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0" r:id="rId3"/>
    <p:sldId id="349" r:id="rId4"/>
    <p:sldId id="333" r:id="rId5"/>
    <p:sldId id="357" r:id="rId6"/>
    <p:sldId id="358" r:id="rId7"/>
    <p:sldId id="35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48" r:id="rId16"/>
    <p:sldId id="360" r:id="rId17"/>
    <p:sldId id="334" r:id="rId18"/>
    <p:sldId id="329" r:id="rId19"/>
    <p:sldId id="338" r:id="rId20"/>
    <p:sldId id="331" r:id="rId21"/>
    <p:sldId id="361" r:id="rId22"/>
    <p:sldId id="332" r:id="rId23"/>
    <p:sldId id="364" r:id="rId24"/>
    <p:sldId id="365" r:id="rId25"/>
    <p:sldId id="366" r:id="rId26"/>
    <p:sldId id="367" r:id="rId27"/>
    <p:sldId id="362" r:id="rId28"/>
    <p:sldId id="363" r:id="rId29"/>
    <p:sldId id="368" r:id="rId30"/>
  </p:sldIdLst>
  <p:sldSz cx="12192000" cy="6858000"/>
  <p:notesSz cx="7315200" cy="12344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8000"/>
    <a:srgbClr val="D67F00"/>
    <a:srgbClr val="E08A19"/>
    <a:srgbClr val="1380DC"/>
    <a:srgbClr val="004C8F"/>
    <a:srgbClr val="E28700"/>
    <a:srgbClr val="F29000"/>
    <a:srgbClr val="FA9500"/>
    <a:srgbClr val="A8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2" autoAdjust="0"/>
    <p:restoredTop sz="94673" autoAdjust="0"/>
  </p:normalViewPr>
  <p:slideViewPr>
    <p:cSldViewPr showGuides="1">
      <p:cViewPr varScale="1">
        <p:scale>
          <a:sx n="101" d="100"/>
          <a:sy n="101" d="100"/>
        </p:scale>
        <p:origin x="13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44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82BC1517-98C5-21AF-E35A-9C6EC218C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228635"/>
            <a:ext cx="1481328" cy="41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F8B2E6C-3356-0FF8-77F8-3EFEC802E68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alphaModFix amt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5844"/>
          <a:stretch>
            <a:fillRect/>
          </a:stretch>
        </p:blipFill>
        <p:spPr bwMode="auto">
          <a:xfrm>
            <a:off x="6096000" y="777269"/>
            <a:ext cx="4960172" cy="571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 userDrawn="1"/>
        </p:nvSpPr>
        <p:spPr bwMode="auto">
          <a:xfrm>
            <a:off x="12553" y="2379512"/>
            <a:ext cx="12191999" cy="1295400"/>
          </a:xfrm>
          <a:prstGeom prst="rect">
            <a:avLst/>
          </a:prstGeom>
          <a:solidFill>
            <a:srgbClr val="E28700">
              <a:alpha val="7490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60" y="2379512"/>
            <a:ext cx="10972680" cy="1295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60" y="4419600"/>
            <a:ext cx="10972680" cy="533400"/>
          </a:xfrm>
        </p:spPr>
        <p:txBody>
          <a:bodyPr/>
          <a:lstStyle>
            <a:lvl1pPr marL="0" indent="0">
              <a:buFont typeface="Times" pitchFamily="-112" charset="0"/>
              <a:buNone/>
              <a:defRPr sz="1700"/>
            </a:lvl1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 bwMode="auto">
          <a:xfrm>
            <a:off x="-2115" y="3735863"/>
            <a:ext cx="12192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4C8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>
            <a:off x="3932" y="2331732"/>
            <a:ext cx="12192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4C8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81274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613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62" y="1691658"/>
            <a:ext cx="5394900" cy="4480560"/>
          </a:xfrm>
        </p:spPr>
        <p:txBody>
          <a:bodyPr/>
          <a:lstStyle>
            <a:lvl1pPr>
              <a:defRPr sz="2800"/>
            </a:lvl1pPr>
            <a:lvl2pPr>
              <a:defRPr sz="2400" b="0">
                <a:solidFill>
                  <a:schemeClr val="tx1"/>
                </a:solidFill>
              </a:defRPr>
            </a:lvl2pPr>
            <a:lvl3pPr>
              <a:defRPr sz="2400" b="0">
                <a:solidFill>
                  <a:schemeClr val="tx1"/>
                </a:solidFill>
              </a:defRPr>
            </a:lvl3pPr>
            <a:lvl4pPr>
              <a:defRPr sz="2400" b="0">
                <a:solidFill>
                  <a:schemeClr val="tx1"/>
                </a:solidFill>
              </a:defRPr>
            </a:lvl4pPr>
            <a:lvl5pPr>
              <a:defRPr sz="2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6187380" y="1691659"/>
            <a:ext cx="5394960" cy="4480560"/>
          </a:xfrm>
        </p:spPr>
        <p:txBody>
          <a:bodyPr/>
          <a:lstStyle>
            <a:lvl1pPr>
              <a:defRPr sz="2800"/>
            </a:lvl1pPr>
            <a:lvl2pPr>
              <a:defRPr sz="2400" b="0">
                <a:solidFill>
                  <a:schemeClr val="tx1"/>
                </a:solidFill>
              </a:defRPr>
            </a:lvl2pPr>
            <a:lvl3pPr>
              <a:defRPr sz="2000" b="0">
                <a:solidFill>
                  <a:schemeClr val="tx1"/>
                </a:solidFill>
              </a:defRPr>
            </a:lvl3pPr>
            <a:lvl4pPr>
              <a:defRPr sz="1800" b="0">
                <a:solidFill>
                  <a:schemeClr val="tx1"/>
                </a:solidFill>
              </a:defRPr>
            </a:lvl4pPr>
            <a:lvl5pPr>
              <a:defRPr sz="18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42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47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264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gif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7DB3BA74-36EE-497F-77FB-16F2004F9D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228635"/>
            <a:ext cx="1481328" cy="41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4BB7E7F-F2E5-7D36-9A65-318AFD289B0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alphaModFix amt="2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5844"/>
          <a:stretch>
            <a:fillRect/>
          </a:stretch>
        </p:blipFill>
        <p:spPr bwMode="auto">
          <a:xfrm>
            <a:off x="6096000" y="777269"/>
            <a:ext cx="4960172" cy="571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 userDrawn="1"/>
        </p:nvSpPr>
        <p:spPr bwMode="auto">
          <a:xfrm>
            <a:off x="1" y="838200"/>
            <a:ext cx="12191999" cy="685800"/>
          </a:xfrm>
          <a:prstGeom prst="rect">
            <a:avLst/>
          </a:prstGeom>
          <a:solidFill>
            <a:srgbClr val="E28700">
              <a:alpha val="74902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61" y="838200"/>
            <a:ext cx="1097267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60" y="1691658"/>
            <a:ext cx="10972679" cy="447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53201"/>
            <a:ext cx="28007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AIAA SciTech Forum: 12–16 January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3062" y="6556160"/>
            <a:ext cx="2678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b="1" dirty="0"/>
              <a:t>HPW: Overview and Future Direction |</a:t>
            </a:r>
            <a:r>
              <a:rPr lang="en-US" sz="1000" b="1" baseline="0" dirty="0"/>
              <a:t> </a:t>
            </a:r>
            <a:fld id="{797656EE-3493-4133-9BFC-4C9531F7A6BE}" type="slidenum">
              <a:rPr lang="en-US" sz="1000" b="1" baseline="0" smtClean="0"/>
              <a:pPr algn="r"/>
              <a:t>‹#›</a:t>
            </a:fld>
            <a:endParaRPr lang="en-US" sz="1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769601" y="523700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solidFill>
                  <a:srgbClr val="0000CC"/>
                </a:solidFill>
              </a:rPr>
              <a:t>HPW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0" y="6477000"/>
            <a:ext cx="121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E08A1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262" y="141150"/>
            <a:ext cx="1600200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6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-11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-11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-11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-112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E98B01"/>
        </a:buClr>
        <a:buFont typeface="Times" panose="02020603050405020304" pitchFamily="18" charset="0"/>
        <a:buChar char="•"/>
        <a:defRPr sz="28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380DC"/>
        </a:buClr>
        <a:buFont typeface="Wingdings" panose="05000000000000000000" pitchFamily="2" charset="2"/>
        <a:buChar char="§"/>
        <a:defRPr sz="2400">
          <a:solidFill>
            <a:srgbClr val="4F4F4F"/>
          </a:solidFill>
          <a:latin typeface="+mn-lt"/>
          <a:ea typeface="ＭＳ Ｐゴシック" pitchFamily="3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ＭＳ Ｐゴシック" pitchFamily="3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rgbClr val="4F4F4F"/>
          </a:solidFill>
          <a:latin typeface="+mn-lt"/>
          <a:ea typeface="ＭＳ Ｐゴシック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Char char="•"/>
        <a:defRPr sz="2400">
          <a:solidFill>
            <a:schemeClr val="tx1"/>
          </a:solidFill>
          <a:latin typeface="+mn-lt"/>
          <a:ea typeface="ＭＳ Ｐゴシック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Times" pitchFamily="-112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Times" pitchFamily="-112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Times" pitchFamily="-112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Times" pitchFamily="-112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aiaa-hpw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AIAA Hover Prediction Workshop: </a:t>
            </a:r>
            <a:br>
              <a:rPr lang="en-US" altLang="en-US" dirty="0"/>
            </a:br>
            <a:r>
              <a:rPr lang="en-US" altLang="en-US" dirty="0"/>
              <a:t>Overview and Future Direction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Chairman: Nathan Hariharan</a:t>
            </a:r>
          </a:p>
          <a:p>
            <a:endParaRPr lang="en-US" altLang="en-US" dirty="0"/>
          </a:p>
          <a:p>
            <a:r>
              <a:rPr lang="en-US" altLang="en-US" dirty="0"/>
              <a:t>Jennifer Abras, Rohit Jain, Robert Narducci, Brian Wake</a:t>
            </a:r>
          </a:p>
          <a:p>
            <a:endParaRPr lang="en-US" altLang="en-US" dirty="0"/>
          </a:p>
          <a:p>
            <a:r>
              <a:rPr lang="en-US" altLang="en-US" b="1" dirty="0"/>
              <a:t>AIAA SciTech Forum | 12–16 January 2026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78878" y="4499786"/>
            <a:ext cx="3778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https://www.aiaa-hpw.org/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50D0F-D2CE-15F4-5E0E-94A0152E5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560" y="137196"/>
            <a:ext cx="1920219" cy="192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9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Steering Committee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3780" y="1692275"/>
            <a:ext cx="7324441" cy="4321183"/>
          </a:xfrm>
        </p:spPr>
        <p:txBody>
          <a:bodyPr wrap="none">
            <a:spAutoFit/>
          </a:bodyPr>
          <a:lstStyle/>
          <a:p>
            <a:pPr marL="0" indent="0" algn="ctr">
              <a:buNone/>
            </a:pPr>
            <a:r>
              <a:rPr lang="en-US" sz="1800" b="1" dirty="0"/>
              <a:t>Nathan Hariharan (Chair)</a:t>
            </a:r>
          </a:p>
          <a:p>
            <a:pPr marL="0" indent="0" algn="ctr">
              <a:buNone/>
            </a:pPr>
            <a:r>
              <a:rPr lang="en-US" sz="1400" b="1" dirty="0"/>
              <a:t>HPCMP CREATE: Chief Scientist &amp; Technologist</a:t>
            </a:r>
            <a:endParaRPr lang="en-US" sz="1800" b="1" dirty="0"/>
          </a:p>
          <a:p>
            <a:pPr marL="0" indent="0" algn="ctr">
              <a:buNone/>
            </a:pPr>
            <a:r>
              <a:rPr lang="en-US" sz="1800" b="1" dirty="0"/>
              <a:t>​</a:t>
            </a:r>
          </a:p>
          <a:p>
            <a:pPr marL="0" indent="0" algn="ctr">
              <a:buNone/>
            </a:pPr>
            <a:r>
              <a:rPr lang="en-US" sz="1800" b="1" dirty="0"/>
              <a:t>Jennifer Abras</a:t>
            </a:r>
          </a:p>
          <a:p>
            <a:pPr marL="0" indent="0" algn="ctr">
              <a:buNone/>
            </a:pPr>
            <a:r>
              <a:rPr lang="en-US" sz="1400" b="1" dirty="0"/>
              <a:t>HPCMP CREATE: Helios Development Team</a:t>
            </a:r>
          </a:p>
          <a:p>
            <a:pPr marL="0" indent="0" algn="ctr">
              <a:buNone/>
            </a:pPr>
            <a:r>
              <a:rPr lang="en-US" sz="1800" b="1" dirty="0"/>
              <a:t>​</a:t>
            </a:r>
          </a:p>
          <a:p>
            <a:pPr marL="0" indent="0" algn="ctr">
              <a:buNone/>
            </a:pPr>
            <a:r>
              <a:rPr lang="en-US" sz="1800" b="1" dirty="0"/>
              <a:t>Rohit Jain</a:t>
            </a:r>
          </a:p>
          <a:p>
            <a:pPr marL="0" indent="0" algn="ctr">
              <a:buNone/>
            </a:pPr>
            <a:r>
              <a:rPr lang="en-US" sz="1400" b="1" dirty="0"/>
              <a:t>US Army Combat Capabilities Development Command Aviation &amp; Missile Center: Aerospace Engineer</a:t>
            </a:r>
            <a:endParaRPr lang="en-US" sz="1800" b="1" dirty="0"/>
          </a:p>
          <a:p>
            <a:pPr marL="0" indent="0" algn="ctr">
              <a:buNone/>
            </a:pPr>
            <a:r>
              <a:rPr lang="en-US" sz="1800" b="1" dirty="0"/>
              <a:t> </a:t>
            </a:r>
          </a:p>
          <a:p>
            <a:pPr marL="0" indent="0" algn="ctr">
              <a:buNone/>
            </a:pPr>
            <a:r>
              <a:rPr lang="en-US" sz="1800" b="1" dirty="0"/>
              <a:t>Bob Narducci</a:t>
            </a:r>
          </a:p>
          <a:p>
            <a:pPr marL="0" indent="0" algn="ctr">
              <a:buNone/>
            </a:pPr>
            <a:r>
              <a:rPr lang="en-US" sz="1400" b="1" dirty="0"/>
              <a:t>The Boeing Company: Technical Fellow</a:t>
            </a:r>
            <a:endParaRPr lang="en-US" sz="1800" b="1" dirty="0"/>
          </a:p>
          <a:p>
            <a:pPr marL="0" indent="0" algn="ctr">
              <a:buNone/>
            </a:pPr>
            <a:r>
              <a:rPr lang="en-US" sz="1800" b="1" dirty="0"/>
              <a:t> </a:t>
            </a:r>
          </a:p>
          <a:p>
            <a:pPr marL="0" indent="0" algn="ctr">
              <a:buNone/>
            </a:pPr>
            <a:r>
              <a:rPr lang="en-US" sz="1800" b="1" dirty="0"/>
              <a:t>Brian Wake</a:t>
            </a:r>
          </a:p>
          <a:p>
            <a:pPr marL="0" indent="0" algn="ctr">
              <a:buNone/>
            </a:pPr>
            <a:r>
              <a:rPr lang="en-US" sz="1400" b="1" dirty="0"/>
              <a:t>Sikorsky Aircraft - A Lockheed-Martin Company: LM Fellow</a:t>
            </a:r>
          </a:p>
        </p:txBody>
      </p:sp>
    </p:spTree>
    <p:extLst>
      <p:ext uri="{BB962C8B-B14F-4D97-AF65-F5344CB8AC3E}">
        <p14:creationId xmlns:p14="http://schemas.microsoft.com/office/powerpoint/2010/main" val="94092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3BB21-BEBC-956F-4B99-436728B60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Our main objectives</a:t>
            </a:r>
          </a:p>
          <a:p>
            <a:endParaRPr lang="en-US" dirty="0"/>
          </a:p>
          <a:p>
            <a:r>
              <a:rPr lang="en-US" dirty="0"/>
              <a:t>Studies and crowning achievements</a:t>
            </a:r>
          </a:p>
          <a:p>
            <a:endParaRPr lang="en-US" dirty="0"/>
          </a:p>
          <a:p>
            <a:r>
              <a:rPr lang="en-US" dirty="0"/>
              <a:t>More to do and what to expect next</a:t>
            </a:r>
          </a:p>
        </p:txBody>
      </p:sp>
    </p:spTree>
    <p:extLst>
      <p:ext uri="{BB962C8B-B14F-4D97-AF65-F5344CB8AC3E}">
        <p14:creationId xmlns:p14="http://schemas.microsoft.com/office/powerpoint/2010/main" val="3099317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HPW Vision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122" y="1547026"/>
            <a:ext cx="5934456" cy="4876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3904" y="2423171"/>
            <a:ext cx="5394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n-lt"/>
              </a:rPr>
              <a:t>Our vision is to inspire collaboration among industry, governments, and academia for the development of</a:t>
            </a:r>
          </a:p>
          <a:p>
            <a:r>
              <a:rPr lang="en-US" sz="2800" dirty="0">
                <a:latin typeface="+mn-lt"/>
              </a:rPr>
              <a:t>computational methods to predict all aspects of hovering flight efficiently, practically, and accurately</a:t>
            </a:r>
          </a:p>
        </p:txBody>
      </p:sp>
    </p:spTree>
    <p:extLst>
      <p:ext uri="{BB962C8B-B14F-4D97-AF65-F5344CB8AC3E}">
        <p14:creationId xmlns:p14="http://schemas.microsoft.com/office/powerpoint/2010/main" val="220056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3169BA-9D81-550E-B2B0-DA2FBFC546DC}"/>
              </a:ext>
            </a:extLst>
          </p:cNvPr>
          <p:cNvCxnSpPr>
            <a:stCxn id="3" idx="1"/>
          </p:cNvCxnSpPr>
          <p:nvPr/>
        </p:nvCxnSpPr>
        <p:spPr bwMode="auto">
          <a:xfrm flipV="1">
            <a:off x="2438440" y="2511928"/>
            <a:ext cx="0" cy="29717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D9963C2-0A03-92E2-4912-C87318A2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HPW Vision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C11DD58-97B4-1C1C-00B2-B8155888C2E8}"/>
              </a:ext>
            </a:extLst>
          </p:cNvPr>
          <p:cNvSpPr/>
          <p:nvPr/>
        </p:nvSpPr>
        <p:spPr>
          <a:xfrm>
            <a:off x="2438440" y="5255098"/>
            <a:ext cx="8138071" cy="457195"/>
          </a:xfrm>
          <a:prstGeom prst="rightArrow">
            <a:avLst>
              <a:gd name="adj1" fmla="val 50000"/>
              <a:gd name="adj2" fmla="val 120834"/>
            </a:avLst>
          </a:prstGeom>
          <a:gradFill flip="none" rotWithShape="1">
            <a:lin ang="10800000" scaled="1"/>
            <a:tileRect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70746-ADDB-65A8-ED25-48C0A5C87540}"/>
              </a:ext>
            </a:extLst>
          </p:cNvPr>
          <p:cNvSpPr txBox="1"/>
          <p:nvPr/>
        </p:nvSpPr>
        <p:spPr>
          <a:xfrm>
            <a:off x="1889806" y="5803732"/>
            <a:ext cx="8547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461963" algn="ctr"/>
                <a:tab pos="2290763" algn="ctr"/>
                <a:tab pos="4119563" algn="ctr"/>
                <a:tab pos="5948363" algn="ctr"/>
                <a:tab pos="7824788" algn="ctr"/>
              </a:tabLst>
            </a:pPr>
            <a:r>
              <a:rPr lang="en-US" sz="1200" dirty="0"/>
              <a:t>	Conceptual Design	Preliminary Design	Detailed Design	Production	Fleet Support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604E4-94A4-2384-9C46-500060460E48}"/>
              </a:ext>
            </a:extLst>
          </p:cNvPr>
          <p:cNvSpPr txBox="1"/>
          <p:nvPr/>
        </p:nvSpPr>
        <p:spPr>
          <a:xfrm>
            <a:off x="3492563" y="1783098"/>
            <a:ext cx="5206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Arial Narrow" panose="020B0606020202030204" pitchFamily="34" charset="0"/>
              </a:rPr>
              <a:t>Our vision does not imply one method!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414E584-464C-6B44-D2B4-102A0D8828CA}"/>
              </a:ext>
            </a:extLst>
          </p:cNvPr>
          <p:cNvSpPr/>
          <p:nvPr/>
        </p:nvSpPr>
        <p:spPr bwMode="auto">
          <a:xfrm>
            <a:off x="2470781" y="2603368"/>
            <a:ext cx="8010525" cy="2604126"/>
          </a:xfrm>
          <a:custGeom>
            <a:avLst/>
            <a:gdLst>
              <a:gd name="connsiteX0" fmla="*/ 0 w 8010525"/>
              <a:gd name="connsiteY0" fmla="*/ 2200275 h 2200275"/>
              <a:gd name="connsiteX1" fmla="*/ 3324225 w 8010525"/>
              <a:gd name="connsiteY1" fmla="*/ 1933575 h 2200275"/>
              <a:gd name="connsiteX2" fmla="*/ 6200775 w 8010525"/>
              <a:gd name="connsiteY2" fmla="*/ 1000125 h 2200275"/>
              <a:gd name="connsiteX3" fmla="*/ 8010525 w 8010525"/>
              <a:gd name="connsiteY3" fmla="*/ 0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10525" h="2200275">
                <a:moveTo>
                  <a:pt x="0" y="2200275"/>
                </a:moveTo>
                <a:cubicBezTo>
                  <a:pt x="1145381" y="2166937"/>
                  <a:pt x="2290763" y="2133600"/>
                  <a:pt x="3324225" y="1933575"/>
                </a:cubicBezTo>
                <a:cubicBezTo>
                  <a:pt x="4357687" y="1733550"/>
                  <a:pt x="5419725" y="1322387"/>
                  <a:pt x="6200775" y="1000125"/>
                </a:cubicBezTo>
                <a:cubicBezTo>
                  <a:pt x="6981825" y="677862"/>
                  <a:pt x="7496175" y="338931"/>
                  <a:pt x="8010525" y="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112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9E6B37-67C3-7648-21B3-D95D3ABCD68B}"/>
              </a:ext>
            </a:extLst>
          </p:cNvPr>
          <p:cNvSpPr txBox="1"/>
          <p:nvPr/>
        </p:nvSpPr>
        <p:spPr>
          <a:xfrm>
            <a:off x="1615489" y="4066391"/>
            <a:ext cx="182880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Isolated Rotor </a:t>
            </a:r>
          </a:p>
          <a:p>
            <a:pPr algn="ctr"/>
            <a:r>
              <a:rPr lang="en-US" sz="1200" dirty="0"/>
              <a:t>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4D7C5B-8C6C-4584-8E20-4FCB8A5B5123}"/>
              </a:ext>
            </a:extLst>
          </p:cNvPr>
          <p:cNvSpPr txBox="1"/>
          <p:nvPr/>
        </p:nvSpPr>
        <p:spPr>
          <a:xfrm>
            <a:off x="3992903" y="4523586"/>
            <a:ext cx="182880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Airframe &amp; </a:t>
            </a:r>
          </a:p>
          <a:p>
            <a:pPr algn="ctr"/>
            <a:r>
              <a:rPr lang="en-US" sz="1200" dirty="0"/>
              <a:t>Rotors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47A21-01CB-52DB-D714-7303C6D6F781}"/>
              </a:ext>
            </a:extLst>
          </p:cNvPr>
          <p:cNvSpPr txBox="1"/>
          <p:nvPr/>
        </p:nvSpPr>
        <p:spPr>
          <a:xfrm>
            <a:off x="3535708" y="3700635"/>
            <a:ext cx="182880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Isolated Rigid Rotor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2209F-F9EB-C320-B89E-A91027B5A7E2}"/>
              </a:ext>
            </a:extLst>
          </p:cNvPr>
          <p:cNvSpPr txBox="1"/>
          <p:nvPr/>
        </p:nvSpPr>
        <p:spPr>
          <a:xfrm>
            <a:off x="5547366" y="3426318"/>
            <a:ext cx="182880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Airframe w/ Rigid Rotor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CF40D-857E-3428-6484-26CBE2543481}"/>
              </a:ext>
            </a:extLst>
          </p:cNvPr>
          <p:cNvSpPr txBox="1"/>
          <p:nvPr/>
        </p:nvSpPr>
        <p:spPr>
          <a:xfrm>
            <a:off x="9296365" y="2786245"/>
            <a:ext cx="182880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Vehicle Trim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DCB1CF-F223-17DE-7F5D-F598135F097C}"/>
              </a:ext>
            </a:extLst>
          </p:cNvPr>
          <p:cNvSpPr txBox="1"/>
          <p:nvPr/>
        </p:nvSpPr>
        <p:spPr>
          <a:xfrm>
            <a:off x="8107658" y="3517757"/>
            <a:ext cx="182880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Airframe with Elastic Rotor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F8227-01CA-62E5-7BFA-4AB12FA84B87}"/>
              </a:ext>
            </a:extLst>
          </p:cNvPr>
          <p:cNvSpPr txBox="1"/>
          <p:nvPr/>
        </p:nvSpPr>
        <p:spPr>
          <a:xfrm>
            <a:off x="6736073" y="4157830"/>
            <a:ext cx="182880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Isolated Elastic Rotor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D40C47-C106-7E44-E936-D84CD4F0D76A}"/>
              </a:ext>
            </a:extLst>
          </p:cNvPr>
          <p:cNvSpPr txBox="1"/>
          <p:nvPr/>
        </p:nvSpPr>
        <p:spPr>
          <a:xfrm>
            <a:off x="883977" y="2603367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Sophistication / </a:t>
            </a:r>
          </a:p>
          <a:p>
            <a:r>
              <a:rPr lang="en-US" sz="1200" dirty="0"/>
              <a:t>Computational Cost</a:t>
            </a:r>
          </a:p>
        </p:txBody>
      </p:sp>
    </p:spTree>
    <p:extLst>
      <p:ext uri="{BB962C8B-B14F-4D97-AF65-F5344CB8AC3E}">
        <p14:creationId xmlns:p14="http://schemas.microsoft.com/office/powerpoint/2010/main" val="392580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48B4-0E4B-49E6-DF1E-AFF8FBEB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HPW 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62895-A8BA-3728-F4CE-4502C64C0CF9}"/>
              </a:ext>
            </a:extLst>
          </p:cNvPr>
          <p:cNvSpPr txBox="1"/>
          <p:nvPr/>
        </p:nvSpPr>
        <p:spPr>
          <a:xfrm>
            <a:off x="2452290" y="1783098"/>
            <a:ext cx="728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Arial Narrow" panose="020B0606020202030204" pitchFamily="34" charset="0"/>
              </a:rPr>
              <a:t>Hover Analysis is often Idealized, but V </a:t>
            </a:r>
            <a:r>
              <a:rPr lang="en-US" sz="2800" dirty="0">
                <a:latin typeface="Arial Narrow" panose="020B0606020202030204" pitchFamily="34" charset="0"/>
                <a:sym typeface="Symbol" panose="05050102010706020507" pitchFamily="18" charset="2"/>
              </a:rPr>
              <a:t>never equals </a:t>
            </a:r>
            <a:r>
              <a:rPr lang="en-US" sz="2800" dirty="0">
                <a:latin typeface="Arial Narrow" panose="020B0606020202030204" pitchFamily="34" charset="0"/>
              </a:rPr>
              <a:t>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CC637-4161-D4D6-1DE5-ABA5DACF58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001" y="2880366"/>
            <a:ext cx="6095933" cy="21945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9F02AA-0EC3-A42B-B32B-980A64E5BC65}"/>
              </a:ext>
            </a:extLst>
          </p:cNvPr>
          <p:cNvSpPr/>
          <p:nvPr/>
        </p:nvSpPr>
        <p:spPr bwMode="auto">
          <a:xfrm>
            <a:off x="609660" y="5806414"/>
            <a:ext cx="10972679" cy="182878"/>
          </a:xfrm>
          <a:prstGeom prst="rect">
            <a:avLst/>
          </a:prstGeom>
          <a:pattFill prst="wd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112" charset="-128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6829C4-FD97-0CA7-6816-11FC1806ADF3}"/>
              </a:ext>
            </a:extLst>
          </p:cNvPr>
          <p:cNvCxnSpPr>
            <a:cxnSpLocks/>
          </p:cNvCxnSpPr>
          <p:nvPr/>
        </p:nvCxnSpPr>
        <p:spPr bwMode="auto">
          <a:xfrm>
            <a:off x="609660" y="5806414"/>
            <a:ext cx="109728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A89A5A6F-AADD-676E-FAB8-4AFB8576B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3429000"/>
            <a:ext cx="1412980" cy="1188706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0EAE61E0-E2F0-D822-C1CF-BAC415B1A8DC}"/>
              </a:ext>
            </a:extLst>
          </p:cNvPr>
          <p:cNvGrpSpPr/>
          <p:nvPr/>
        </p:nvGrpSpPr>
        <p:grpSpPr>
          <a:xfrm>
            <a:off x="8747731" y="4800585"/>
            <a:ext cx="1097280" cy="1005829"/>
            <a:chOff x="8747731" y="4800585"/>
            <a:chExt cx="1097280" cy="1005829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21ECC21-9FFF-FC83-0A06-74EFEBCDC3C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96365" y="4892024"/>
              <a:ext cx="0" cy="91439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3E4639-B194-1C82-D56E-B7DC81A25CC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662121" y="4892024"/>
              <a:ext cx="0" cy="45719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4C3DDC67-E23F-60DA-5DCB-A9AB70DBC64E}"/>
                </a:ext>
              </a:extLst>
            </p:cNvPr>
            <p:cNvSpPr/>
            <p:nvPr/>
          </p:nvSpPr>
          <p:spPr bwMode="auto">
            <a:xfrm rot="10800000" flipH="1">
              <a:off x="9067765" y="4800585"/>
              <a:ext cx="457200" cy="1005829"/>
            </a:xfrm>
            <a:prstGeom prst="arc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112" charset="-128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BDB008D-6BFA-2AC2-A279-894667153D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4965" y="4892024"/>
              <a:ext cx="0" cy="45719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72A9CABB-1063-4A3E-8500-7B01EF60224C}"/>
                </a:ext>
              </a:extLst>
            </p:cNvPr>
            <p:cNvSpPr/>
            <p:nvPr/>
          </p:nvSpPr>
          <p:spPr bwMode="auto">
            <a:xfrm rot="10800000" flipH="1">
              <a:off x="8747731" y="4800585"/>
              <a:ext cx="1097280" cy="1005829"/>
            </a:xfrm>
            <a:prstGeom prst="arc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112" charset="-128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666B551-7401-023B-6165-564845BF70B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844999" y="4892024"/>
              <a:ext cx="0" cy="45719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4603FD3E-5762-FB7C-19E1-97F349F471E1}"/>
                </a:ext>
              </a:extLst>
            </p:cNvPr>
            <p:cNvSpPr/>
            <p:nvPr/>
          </p:nvSpPr>
          <p:spPr bwMode="auto">
            <a:xfrm rot="10800000" flipH="1">
              <a:off x="8930609" y="4800585"/>
              <a:ext cx="731512" cy="1005829"/>
            </a:xfrm>
            <a:prstGeom prst="arc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112" charset="-128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CE276C9-8780-2164-16C1-95BB4AC5626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96365" y="4983463"/>
              <a:ext cx="54863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28B410F-2A88-67A1-9D4D-1F4DFA13138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96365" y="5135863"/>
              <a:ext cx="54863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01F272A-A44A-3551-420E-449DEA105F5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96365" y="5288263"/>
              <a:ext cx="54863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5E55337-C327-2283-E966-473BAB02DE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96365" y="5440663"/>
              <a:ext cx="53035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444C93B-2176-A807-E389-6733136127F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96365" y="5593063"/>
              <a:ext cx="4572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DDFD329-9351-C529-9D11-9B49E4C81695}"/>
              </a:ext>
            </a:extLst>
          </p:cNvPr>
          <p:cNvSpPr txBox="1"/>
          <p:nvPr/>
        </p:nvSpPr>
        <p:spPr>
          <a:xfrm>
            <a:off x="9113487" y="3429000"/>
            <a:ext cx="2524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 Narrow" panose="020B0606020202030204" pitchFamily="34" charset="0"/>
              </a:rPr>
              <a:t>Excursions over the average are sometimes the important aspects</a:t>
            </a:r>
          </a:p>
        </p:txBody>
      </p:sp>
    </p:spTree>
    <p:extLst>
      <p:ext uri="{BB962C8B-B14F-4D97-AF65-F5344CB8AC3E}">
        <p14:creationId xmlns:p14="http://schemas.microsoft.com/office/powerpoint/2010/main" val="208708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8BC29-64F6-0E5B-9F1D-B00197A59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28100A-BE2A-97FF-992D-F184A447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874538"/>
            <a:ext cx="11521314" cy="44608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9D4AEA-4068-1BCE-4C19-84ECAE23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Grand Challenge</a:t>
            </a:r>
          </a:p>
        </p:txBody>
      </p:sp>
    </p:spTree>
    <p:extLst>
      <p:ext uri="{BB962C8B-B14F-4D97-AF65-F5344CB8AC3E}">
        <p14:creationId xmlns:p14="http://schemas.microsoft.com/office/powerpoint/2010/main" val="177487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823F-3703-A872-402C-9831BBE0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526BE-EFCB-68D5-6F93-669B4A41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0" y="1691658"/>
            <a:ext cx="4663389" cy="447605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HPW committee identified 5 challenge simulations to benchmark and advance hover prediction processes</a:t>
            </a:r>
          </a:p>
          <a:p>
            <a:endParaRPr lang="en-US" dirty="0"/>
          </a:p>
          <a:p>
            <a:r>
              <a:rPr lang="en-US" dirty="0"/>
              <a:t>Each simulation offers a hover focus area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5A3048-C610-E42F-805E-2F7C843C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74" r="1917" b="15948"/>
          <a:stretch>
            <a:fillRect/>
          </a:stretch>
        </p:blipFill>
        <p:spPr>
          <a:xfrm>
            <a:off x="5547366" y="2514610"/>
            <a:ext cx="5943600" cy="37188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4A1238-445C-EE87-85A8-E11438AC1306}"/>
              </a:ext>
            </a:extLst>
          </p:cNvPr>
          <p:cNvSpPr txBox="1"/>
          <p:nvPr/>
        </p:nvSpPr>
        <p:spPr>
          <a:xfrm>
            <a:off x="902495" y="1778628"/>
            <a:ext cx="10387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914400" algn="ctr"/>
                <a:tab pos="2743200" algn="ctr"/>
                <a:tab pos="4572000" algn="ctr"/>
                <a:tab pos="7199313" algn="ctr"/>
                <a:tab pos="9485313" algn="ctr"/>
              </a:tabLst>
            </a:pPr>
            <a:r>
              <a:rPr lang="en-US" dirty="0"/>
              <a:t>	</a:t>
            </a:r>
            <a:r>
              <a:rPr lang="en-US" u="sng" dirty="0"/>
              <a:t>S-76 Rotor</a:t>
            </a:r>
            <a:r>
              <a:rPr lang="en-US" dirty="0"/>
              <a:t>	</a:t>
            </a:r>
            <a:r>
              <a:rPr lang="en-US" u="sng" dirty="0"/>
              <a:t>PSP Rotor</a:t>
            </a:r>
            <a:r>
              <a:rPr lang="en-US" dirty="0"/>
              <a:t>	</a:t>
            </a:r>
            <a:r>
              <a:rPr lang="en-US" u="sng" dirty="0"/>
              <a:t>HVAB Rotor</a:t>
            </a:r>
            <a:r>
              <a:rPr lang="en-US" dirty="0"/>
              <a:t>	</a:t>
            </a:r>
            <a:r>
              <a:rPr lang="en-US" u="sng" dirty="0"/>
              <a:t>Hover Focus Problem</a:t>
            </a:r>
            <a:r>
              <a:rPr lang="en-US" dirty="0"/>
              <a:t>	</a:t>
            </a:r>
            <a:r>
              <a:rPr lang="en-US" u="sng" dirty="0"/>
              <a:t>eVTOL</a:t>
            </a:r>
          </a:p>
        </p:txBody>
      </p:sp>
    </p:spTree>
    <p:extLst>
      <p:ext uri="{BB962C8B-B14F-4D97-AF65-F5344CB8AC3E}">
        <p14:creationId xmlns:p14="http://schemas.microsoft.com/office/powerpoint/2010/main" val="247174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9069-E5FC-CC3D-89DF-7C0AE11F5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69C9-1A71-6BE7-BCB8-9969B078C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61" y="838200"/>
            <a:ext cx="10972678" cy="685800"/>
          </a:xfrm>
        </p:spPr>
        <p:txBody>
          <a:bodyPr/>
          <a:lstStyle/>
          <a:p>
            <a:r>
              <a:rPr lang="en-US" dirty="0"/>
              <a:t>Collaboration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84F5E-BA43-C898-68A0-884587C34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0" y="1691658"/>
            <a:ext cx="10972679" cy="447605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S-76 rotor simulation has model-scale performance-quality test data for a variety of blade tip shapes</a:t>
            </a:r>
          </a:p>
          <a:p>
            <a:endParaRPr lang="en-US" dirty="0"/>
          </a:p>
          <a:p>
            <a:r>
              <a:rPr lang="en-US" dirty="0"/>
              <a:t>Being the first of the HPW test problems, there is a large database of results generated from participants across the world using a large variety of methods</a:t>
            </a:r>
          </a:p>
          <a:p>
            <a:endParaRPr lang="en-US" dirty="0"/>
          </a:p>
          <a:p>
            <a:r>
              <a:rPr lang="en-US" dirty="0"/>
              <a:t>Results include performance, distributed loads and wake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6D83E-A101-1750-B88F-E8403A64E3DB}"/>
              </a:ext>
            </a:extLst>
          </p:cNvPr>
          <p:cNvSpPr txBox="1"/>
          <p:nvPr/>
        </p:nvSpPr>
        <p:spPr>
          <a:xfrm>
            <a:off x="902495" y="1778628"/>
            <a:ext cx="10387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914400" algn="ctr"/>
                <a:tab pos="2743200" algn="ctr"/>
                <a:tab pos="4572000" algn="ctr"/>
                <a:tab pos="7199313" algn="ctr"/>
                <a:tab pos="9485313" algn="ctr"/>
              </a:tabLst>
            </a:pPr>
            <a:r>
              <a:rPr lang="en-US" dirty="0"/>
              <a:t>	</a:t>
            </a:r>
            <a:r>
              <a:rPr lang="en-US" u="sng" dirty="0"/>
              <a:t>S-76 Rotor</a:t>
            </a:r>
            <a:r>
              <a:rPr lang="en-US" dirty="0"/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PSP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HVAB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Hover Focus Problem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eVTOL</a:t>
            </a:r>
          </a:p>
        </p:txBody>
      </p:sp>
    </p:spTree>
    <p:extLst>
      <p:ext uri="{BB962C8B-B14F-4D97-AF65-F5344CB8AC3E}">
        <p14:creationId xmlns:p14="http://schemas.microsoft.com/office/powerpoint/2010/main" val="417391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93FFE-CA2B-6431-AC9A-AFF92EF7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C0DB-DEA0-ADEA-7539-9C535A2F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61" y="838200"/>
            <a:ext cx="10972678" cy="685800"/>
          </a:xfrm>
        </p:spPr>
        <p:txBody>
          <a:bodyPr/>
          <a:lstStyle/>
          <a:p>
            <a:r>
              <a:rPr lang="en-US" dirty="0"/>
              <a:t>Collaboration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4AABC-3F37-3B38-E6F8-88A456081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0" y="1691658"/>
            <a:ext cx="10972679" cy="447605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66.5” radius PSP rotor has </a:t>
            </a:r>
          </a:p>
          <a:p>
            <a:r>
              <a:rPr lang="en-US" dirty="0"/>
              <a:t>well-defined blades, including the OML and structural properties</a:t>
            </a:r>
          </a:p>
          <a:p>
            <a:endParaRPr lang="en-US" dirty="0"/>
          </a:p>
          <a:p>
            <a:r>
              <a:rPr lang="en-US" dirty="0"/>
              <a:t>structured and unstructured surface grids are available on the file share</a:t>
            </a:r>
          </a:p>
          <a:p>
            <a:endParaRPr lang="en-US" dirty="0"/>
          </a:p>
          <a:p>
            <a:r>
              <a:rPr lang="en-US" dirty="0"/>
              <a:t>high-quality performance and boundary layer transition data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92B6D5-04D3-0E7A-E214-D83B15743521}"/>
              </a:ext>
            </a:extLst>
          </p:cNvPr>
          <p:cNvSpPr txBox="1"/>
          <p:nvPr/>
        </p:nvSpPr>
        <p:spPr>
          <a:xfrm>
            <a:off x="902495" y="1778628"/>
            <a:ext cx="10387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914400" algn="ctr"/>
                <a:tab pos="2743200" algn="ctr"/>
                <a:tab pos="4572000" algn="ctr"/>
                <a:tab pos="7199313" algn="ctr"/>
                <a:tab pos="9485313" algn="ctr"/>
              </a:tabLst>
            </a:pPr>
            <a:r>
              <a:rPr lang="en-US" dirty="0"/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S-76 Rotor</a:t>
            </a:r>
            <a:r>
              <a:rPr lang="en-US" dirty="0"/>
              <a:t>	</a:t>
            </a:r>
            <a:r>
              <a:rPr lang="en-US" u="sng" dirty="0"/>
              <a:t>PSP Rotor</a:t>
            </a:r>
            <a:r>
              <a:rPr lang="en-US" dirty="0"/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HVAB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Hover Focus Problem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eVTOL</a:t>
            </a:r>
          </a:p>
        </p:txBody>
      </p:sp>
    </p:spTree>
    <p:extLst>
      <p:ext uri="{BB962C8B-B14F-4D97-AF65-F5344CB8AC3E}">
        <p14:creationId xmlns:p14="http://schemas.microsoft.com/office/powerpoint/2010/main" val="3721589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0675-A0D8-759B-9696-1BDC33D5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0AD4-E286-1E12-E929-FF3E88EF5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61" y="838200"/>
            <a:ext cx="10972678" cy="685800"/>
          </a:xfrm>
        </p:spPr>
        <p:txBody>
          <a:bodyPr/>
          <a:lstStyle/>
          <a:p>
            <a:r>
              <a:rPr lang="en-US" dirty="0"/>
              <a:t>Collaboration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B290-EF7B-6662-72FE-7DE795454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0" y="1691658"/>
            <a:ext cx="10972679" cy="4476059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HVAB rotor:</a:t>
            </a:r>
          </a:p>
          <a:p>
            <a:r>
              <a:rPr lang="en-US" dirty="0"/>
              <a:t>is closely related to the PSP rotor with minor changes to the root section and TE</a:t>
            </a:r>
          </a:p>
          <a:p>
            <a:r>
              <a:rPr lang="en-US" dirty="0"/>
              <a:t>has a new, large, publicly available database including performance, thermography (BL transition), </a:t>
            </a:r>
            <a:r>
              <a:rPr lang="en-US" dirty="0" err="1"/>
              <a:t>shadowgraphy</a:t>
            </a:r>
            <a:r>
              <a:rPr lang="en-US" dirty="0"/>
              <a:t> (for wake characterization), photogrammetry (blade deformation), pressure &amp; </a:t>
            </a:r>
            <a:r>
              <a:rPr lang="en-US" dirty="0" err="1"/>
              <a:t>airloads</a:t>
            </a:r>
            <a:r>
              <a:rPr lang="en-US" dirty="0"/>
              <a:t>, and PIV</a:t>
            </a:r>
          </a:p>
          <a:p>
            <a:r>
              <a:rPr lang="en-US" dirty="0"/>
              <a:t>has well-defined non-deformed geometry and structural properties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26090-32A9-C589-DF3F-53F1A46A0F77}"/>
              </a:ext>
            </a:extLst>
          </p:cNvPr>
          <p:cNvSpPr txBox="1"/>
          <p:nvPr/>
        </p:nvSpPr>
        <p:spPr>
          <a:xfrm>
            <a:off x="902495" y="1778628"/>
            <a:ext cx="10387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914400" algn="ctr"/>
                <a:tab pos="2743200" algn="ctr"/>
                <a:tab pos="4572000" algn="ctr"/>
                <a:tab pos="7199313" algn="ctr"/>
                <a:tab pos="9485313" algn="ctr"/>
              </a:tabLst>
            </a:pPr>
            <a:r>
              <a:rPr lang="en-US" dirty="0"/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S-76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PSP Rotor</a:t>
            </a:r>
            <a:r>
              <a:rPr lang="en-US" dirty="0"/>
              <a:t>	</a:t>
            </a:r>
            <a:r>
              <a:rPr lang="en-US" u="sng" dirty="0"/>
              <a:t>HVAB Rotor</a:t>
            </a:r>
            <a:r>
              <a:rPr lang="en-US" dirty="0"/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Hover Focus Problem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eVTOL</a:t>
            </a:r>
          </a:p>
        </p:txBody>
      </p:sp>
    </p:spTree>
    <p:extLst>
      <p:ext uri="{BB962C8B-B14F-4D97-AF65-F5344CB8AC3E}">
        <p14:creationId xmlns:p14="http://schemas.microsoft.com/office/powerpoint/2010/main" val="230772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F761-F66E-1D69-FC9E-01EABD6B1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7984-9C6A-021D-A2F1-C936F318A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61" y="838200"/>
            <a:ext cx="10972678" cy="685800"/>
          </a:xfrm>
        </p:spPr>
        <p:txBody>
          <a:bodyPr/>
          <a:lstStyle/>
          <a:p>
            <a:r>
              <a:rPr lang="en-US" dirty="0"/>
              <a:t>Collaboration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9057-43A0-9876-42EC-766650649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0" y="1691658"/>
            <a:ext cx="10972679" cy="447605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HFP attempts to coordinate results-sharing for aspects of the hover problems that are difficult to measure experimentally</a:t>
            </a:r>
          </a:p>
          <a:p>
            <a:r>
              <a:rPr lang="en-US" dirty="0"/>
              <a:t>It utilizes the HVAB rotor and NASA Robin-mod7 airframe for easy </a:t>
            </a:r>
            <a:r>
              <a:rPr lang="en-US" dirty="0" err="1"/>
              <a:t>sharability</a:t>
            </a:r>
            <a:endParaRPr lang="en-US" dirty="0"/>
          </a:p>
          <a:p>
            <a:r>
              <a:rPr lang="en-US" dirty="0"/>
              <a:t>It addresses HOGE, HIGE, download, thrust recovery, </a:t>
            </a:r>
            <a:r>
              <a:rPr lang="en-US" dirty="0" err="1"/>
              <a:t>groundwash</a:t>
            </a:r>
            <a:r>
              <a:rPr lang="en-US" dirty="0"/>
              <a:t>, wind impact, and descent simulation (requiring feedback for maintaining GW)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BB0F7-4102-109A-662A-F545F9653EBA}"/>
              </a:ext>
            </a:extLst>
          </p:cNvPr>
          <p:cNvSpPr txBox="1"/>
          <p:nvPr/>
        </p:nvSpPr>
        <p:spPr>
          <a:xfrm>
            <a:off x="902495" y="1778628"/>
            <a:ext cx="10387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914400" algn="ctr"/>
                <a:tab pos="2743200" algn="ctr"/>
                <a:tab pos="4572000" algn="ctr"/>
                <a:tab pos="7199313" algn="ctr"/>
                <a:tab pos="9485313" algn="ctr"/>
              </a:tabLst>
            </a:pPr>
            <a:r>
              <a:rPr lang="en-US" dirty="0"/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S-76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PSP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HVAB Rotor</a:t>
            </a:r>
            <a:r>
              <a:rPr lang="en-US" dirty="0"/>
              <a:t>	</a:t>
            </a:r>
            <a:r>
              <a:rPr lang="en-US" u="sng" dirty="0"/>
              <a:t>Hover Focus Problem</a:t>
            </a:r>
            <a:r>
              <a:rPr lang="en-US" dirty="0"/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eVTOL</a:t>
            </a:r>
          </a:p>
        </p:txBody>
      </p:sp>
    </p:spTree>
    <p:extLst>
      <p:ext uri="{BB962C8B-B14F-4D97-AF65-F5344CB8AC3E}">
        <p14:creationId xmlns:p14="http://schemas.microsoft.com/office/powerpoint/2010/main" val="2916452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47FB6-8DD7-C027-6C33-A9A63AD5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6379-C9FE-FEB4-275F-2EC49194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61" y="838200"/>
            <a:ext cx="10972678" cy="685800"/>
          </a:xfrm>
        </p:spPr>
        <p:txBody>
          <a:bodyPr/>
          <a:lstStyle/>
          <a:p>
            <a:r>
              <a:rPr lang="en-US" dirty="0"/>
              <a:t>Collaboration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A0ED2-EBF0-C562-639F-10CC98AB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0" y="1691658"/>
            <a:ext cx="10972679" cy="447605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latest hover problem</a:t>
            </a:r>
            <a:br>
              <a:rPr lang="en-US" dirty="0"/>
            </a:br>
            <a:r>
              <a:rPr lang="en-US" dirty="0"/>
              <a:t>involves the SUI Endurance</a:t>
            </a:r>
          </a:p>
          <a:p>
            <a:endParaRPr lang="en-US" dirty="0"/>
          </a:p>
          <a:p>
            <a:r>
              <a:rPr lang="en-US" dirty="0"/>
              <a:t>Recommended simulations include</a:t>
            </a:r>
            <a:br>
              <a:rPr lang="en-US" dirty="0"/>
            </a:br>
            <a:r>
              <a:rPr lang="en-US" dirty="0"/>
              <a:t>isolated fuselage, isolated rotor, &amp;</a:t>
            </a:r>
            <a:br>
              <a:rPr lang="en-US" dirty="0"/>
            </a:br>
            <a:r>
              <a:rPr lang="en-US" dirty="0"/>
              <a:t>full-aircraft from hover </a:t>
            </a:r>
            <a:r>
              <a:rPr lang="en-US" dirty="0" err="1"/>
              <a:t>upto</a:t>
            </a:r>
            <a:r>
              <a:rPr lang="en-US" dirty="0"/>
              <a:t> 20 m/s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7545B-A2BE-A13C-20A3-AFBE7A67FC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926" y="2745168"/>
            <a:ext cx="7696074" cy="35184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D6A1F6-F213-3B92-4D48-37F77B280F84}"/>
              </a:ext>
            </a:extLst>
          </p:cNvPr>
          <p:cNvSpPr txBox="1"/>
          <p:nvPr/>
        </p:nvSpPr>
        <p:spPr>
          <a:xfrm>
            <a:off x="902495" y="1778628"/>
            <a:ext cx="10387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914400" algn="ctr"/>
                <a:tab pos="2743200" algn="ctr"/>
                <a:tab pos="4572000" algn="ctr"/>
                <a:tab pos="7199313" algn="ctr"/>
                <a:tab pos="9485313" algn="ctr"/>
              </a:tabLst>
            </a:pPr>
            <a:r>
              <a:rPr lang="en-US" dirty="0"/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S-76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PSP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HVAB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Hover Focus Problem</a:t>
            </a:r>
            <a:r>
              <a:rPr lang="en-US" dirty="0"/>
              <a:t>	</a:t>
            </a:r>
            <a:r>
              <a:rPr lang="en-US" u="sng" dirty="0"/>
              <a:t>eVTOL</a:t>
            </a:r>
          </a:p>
        </p:txBody>
      </p:sp>
    </p:spTree>
    <p:extLst>
      <p:ext uri="{BB962C8B-B14F-4D97-AF65-F5344CB8AC3E}">
        <p14:creationId xmlns:p14="http://schemas.microsoft.com/office/powerpoint/2010/main" val="855986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BFFE-1068-0114-ABEB-FC9C24D4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Crowning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8BA07-BD27-6F75-3CED-6ED4EB72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Abstracts of all papers presented in HPWs are compiled in one place on the website: https://www.aiaa-hpw.org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B78FA4-E378-0A49-5F8D-0919B47E9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60"/>
          <a:stretch>
            <a:fillRect/>
          </a:stretch>
        </p:blipFill>
        <p:spPr>
          <a:xfrm>
            <a:off x="6004561" y="2331732"/>
            <a:ext cx="5943600" cy="36903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83CFE2-1354-E936-30CB-4C547EE824B5}"/>
              </a:ext>
            </a:extLst>
          </p:cNvPr>
          <p:cNvCxnSpPr>
            <a:cxnSpLocks/>
          </p:cNvCxnSpPr>
          <p:nvPr/>
        </p:nvCxnSpPr>
        <p:spPr bwMode="auto">
          <a:xfrm flipV="1">
            <a:off x="10485072" y="2697488"/>
            <a:ext cx="548634" cy="365756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708D82-04C7-46F0-D711-B61CED7FDE2F}"/>
              </a:ext>
            </a:extLst>
          </p:cNvPr>
          <p:cNvSpPr txBox="1">
            <a:spLocks/>
          </p:cNvSpPr>
          <p:nvPr/>
        </p:nvSpPr>
        <p:spPr bwMode="auto">
          <a:xfrm>
            <a:off x="0" y="2788927"/>
            <a:ext cx="5852096" cy="3474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spcCol="182880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98B01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+mn-lt"/>
                <a:ea typeface="ＭＳ Ｐゴシック" pitchFamily="34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380DC"/>
              </a:buClr>
              <a:buFont typeface="Wingdings" panose="05000000000000000000" pitchFamily="2" charset="2"/>
              <a:buChar char="§"/>
              <a:defRPr sz="2400" b="0">
                <a:solidFill>
                  <a:schemeClr val="tx1"/>
                </a:solidFill>
                <a:latin typeface="+mn-lt"/>
                <a:ea typeface="ＭＳ Ｐゴシック" pitchFamily="34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0">
                <a:solidFill>
                  <a:schemeClr val="tx1"/>
                </a:solidFill>
                <a:latin typeface="+mn-lt"/>
                <a:ea typeface="ＭＳ Ｐゴシック" pitchFamily="34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400" b="0">
                <a:solidFill>
                  <a:schemeClr val="tx1"/>
                </a:solidFill>
                <a:latin typeface="+mn-lt"/>
                <a:ea typeface="ＭＳ Ｐゴシック" pitchFamily="34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400" b="0">
                <a:solidFill>
                  <a:schemeClr val="tx1"/>
                </a:solidFill>
                <a:latin typeface="+mn-lt"/>
                <a:ea typeface="ＭＳ Ｐゴシック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112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112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112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112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1600" kern="0" dirty="0"/>
              <a:t>Absolute and incremental performance predictions</a:t>
            </a:r>
          </a:p>
          <a:p>
            <a:r>
              <a:rPr lang="en-US" sz="1600" kern="0" dirty="0"/>
              <a:t>Common post-processing recommendations</a:t>
            </a:r>
          </a:p>
          <a:p>
            <a:r>
              <a:rPr lang="en-US" sz="1600" kern="0" dirty="0"/>
              <a:t>Blade geometry impacts to performance</a:t>
            </a:r>
          </a:p>
          <a:p>
            <a:r>
              <a:rPr lang="en-US" sz="1600" kern="0" dirty="0"/>
              <a:t>Aeroelastic effects</a:t>
            </a:r>
          </a:p>
          <a:p>
            <a:r>
              <a:rPr lang="en-US" sz="1600" kern="0" dirty="0"/>
              <a:t>Low-order approaches</a:t>
            </a:r>
          </a:p>
          <a:p>
            <a:r>
              <a:rPr lang="en-US" sz="1600" kern="0" dirty="0"/>
              <a:t>Structured, unstructured, and hybrid approaches</a:t>
            </a:r>
          </a:p>
          <a:p>
            <a:r>
              <a:rPr lang="en-US" sz="1600" kern="0" dirty="0"/>
              <a:t>Off-body schemes &amp; wake refinement</a:t>
            </a:r>
          </a:p>
          <a:p>
            <a:r>
              <a:rPr lang="en-US" sz="1600" kern="0" dirty="0"/>
              <a:t>Wake breakdown</a:t>
            </a:r>
          </a:p>
          <a:p>
            <a:r>
              <a:rPr lang="en-US" sz="1600" kern="0" dirty="0"/>
              <a:t>Turbulence modeling</a:t>
            </a:r>
          </a:p>
          <a:p>
            <a:r>
              <a:rPr lang="en-US" sz="1600" kern="0" dirty="0"/>
              <a:t>Laminar-to-turbulent transition</a:t>
            </a:r>
          </a:p>
          <a:p>
            <a:r>
              <a:rPr lang="en-US" sz="1600" kern="0" dirty="0"/>
              <a:t>Model-to-full scale performance</a:t>
            </a:r>
          </a:p>
          <a:p>
            <a:r>
              <a:rPr lang="en-US" sz="1600" kern="0" dirty="0"/>
              <a:t>Test facility effects</a:t>
            </a:r>
          </a:p>
          <a:p>
            <a:r>
              <a:rPr lang="en-US" sz="1600" kern="0" dirty="0"/>
              <a:t>Download</a:t>
            </a:r>
          </a:p>
          <a:p>
            <a:r>
              <a:rPr lang="en-US" sz="1600" kern="0" dirty="0"/>
              <a:t>Ground effects</a:t>
            </a:r>
          </a:p>
          <a:p>
            <a:r>
              <a:rPr lang="en-US" sz="1600" kern="0" dirty="0"/>
              <a:t>Steady-state vs. time-accurate approaches</a:t>
            </a:r>
          </a:p>
          <a:p>
            <a:r>
              <a:rPr lang="en-US" sz="1600" kern="0" dirty="0"/>
              <a:t>Uncertainty quantification</a:t>
            </a:r>
          </a:p>
          <a:p>
            <a:r>
              <a:rPr lang="en-US" sz="1600" kern="0" dirty="0"/>
              <a:t>Code-to-code comparisons</a:t>
            </a:r>
          </a:p>
          <a:p>
            <a:r>
              <a:rPr lang="en-US" sz="1600" kern="0" dirty="0"/>
              <a:t>Others…</a:t>
            </a:r>
          </a:p>
          <a:p>
            <a:endParaRPr lang="en-US" sz="1600" kern="0" dirty="0"/>
          </a:p>
        </p:txBody>
      </p:sp>
    </p:spTree>
    <p:extLst>
      <p:ext uri="{BB962C8B-B14F-4D97-AF65-F5344CB8AC3E}">
        <p14:creationId xmlns:p14="http://schemas.microsoft.com/office/powerpoint/2010/main" val="348967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874538"/>
            <a:ext cx="11521314" cy="44608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to the Grand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25" y="1789874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41537" y="2406620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195" y="1789873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50" y="3520182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29879" y="5074902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1975" y="2254405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1756" y="2693192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6339" y="3521924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0313A-2B38-93CB-A189-FC3FDB5882EB}"/>
              </a:ext>
            </a:extLst>
          </p:cNvPr>
          <p:cNvSpPr txBox="1"/>
          <p:nvPr/>
        </p:nvSpPr>
        <p:spPr>
          <a:xfrm>
            <a:off x="3352830" y="3246122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A8524-B49D-836D-2228-9F1568DF770D}"/>
              </a:ext>
            </a:extLst>
          </p:cNvPr>
          <p:cNvSpPr txBox="1"/>
          <p:nvPr/>
        </p:nvSpPr>
        <p:spPr>
          <a:xfrm>
            <a:off x="2712757" y="2423171"/>
            <a:ext cx="50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8000"/>
                </a:solidFill>
                <a:sym typeface="Wingdings" panose="05000000000000000000" pitchFamily="2" charset="2"/>
              </a:rPr>
              <a:t></a:t>
            </a:r>
            <a:endParaRPr lang="en-US" sz="32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197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Black And White Book Clip Art, Download Free Black And White Book Clip Art png images, Free ...">
            <a:extLst>
              <a:ext uri="{FF2B5EF4-FFF2-40B4-BE49-F238E27FC236}">
                <a16:creationId xmlns:a16="http://schemas.microsoft.com/office/drawing/2014/main" id="{9577889C-0375-9CB5-FD85-E873D3085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56452" y="2331732"/>
            <a:ext cx="6791644" cy="357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02F0751-8E9F-B7F4-CC5E-75DD00FF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 for Discussion...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4BB96A-FCD2-42AE-402F-013A6DA5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1" y="1691658"/>
            <a:ext cx="6400730" cy="4476059"/>
          </a:xfrm>
        </p:spPr>
        <p:txBody>
          <a:bodyPr/>
          <a:lstStyle/>
          <a:p>
            <a:r>
              <a:rPr lang="en-US" dirty="0"/>
              <a:t>Is it time for a comprehensive record of</a:t>
            </a:r>
            <a:br>
              <a:rPr lang="en-US" dirty="0"/>
            </a:br>
            <a:r>
              <a:rPr lang="en-US" dirty="0"/>
              <a:t>hover prediction achievements?</a:t>
            </a:r>
          </a:p>
          <a:p>
            <a:pPr lvl="2"/>
            <a:endParaRPr lang="en-US" sz="1800" dirty="0"/>
          </a:p>
          <a:p>
            <a:r>
              <a:rPr lang="en-US" dirty="0"/>
              <a:t>Possible topics include: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sz="1800" dirty="0"/>
          </a:p>
          <a:p>
            <a:r>
              <a:rPr lang="en-US" dirty="0"/>
              <a:t>Are there gaps?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A2377F-1F21-6374-3B6B-CB9E0D37944C}"/>
              </a:ext>
            </a:extLst>
          </p:cNvPr>
          <p:cNvSpPr txBox="1"/>
          <p:nvPr/>
        </p:nvSpPr>
        <p:spPr>
          <a:xfrm>
            <a:off x="1158294" y="3520439"/>
            <a:ext cx="39318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Selecting an analysis approach &amp; what to expect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Modeling wakes &amp; turbulence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Quantifying uncertainty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Application to design &amp;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542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for Discussion: HPW Cadence &amp; Communication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7010390" y="1691659"/>
            <a:ext cx="4937706" cy="448056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The HPW meets twice a year</a:t>
            </a:r>
          </a:p>
          <a:p>
            <a:pPr lvl="1"/>
            <a:r>
              <a:rPr lang="en-US" dirty="0"/>
              <a:t>Winter: SciTech</a:t>
            </a:r>
          </a:p>
          <a:p>
            <a:pPr lvl="1"/>
            <a:r>
              <a:rPr lang="en-US" dirty="0"/>
              <a:t>Summer: Aviation</a:t>
            </a:r>
          </a:p>
          <a:p>
            <a:pPr lvl="1"/>
            <a:endParaRPr lang="en-US" dirty="0"/>
          </a:p>
          <a:p>
            <a:r>
              <a:rPr lang="en-US" dirty="0"/>
              <a:t>www.aiaa-hpw.org</a:t>
            </a:r>
          </a:p>
          <a:p>
            <a:endParaRPr lang="en-US" dirty="0"/>
          </a:p>
          <a:p>
            <a:r>
              <a:rPr lang="en-US" dirty="0"/>
              <a:t>Email correspondence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76ADC-350D-0770-E963-3D3F07FD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15" r="1961" b="-3275"/>
          <a:stretch>
            <a:fillRect/>
          </a:stretch>
        </p:blipFill>
        <p:spPr>
          <a:xfrm>
            <a:off x="426782" y="2148854"/>
            <a:ext cx="5943600" cy="3721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4764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61" y="838200"/>
            <a:ext cx="10972678" cy="685800"/>
          </a:xfrm>
        </p:spPr>
        <p:txBody>
          <a:bodyPr/>
          <a:lstStyle/>
          <a:p>
            <a:r>
              <a:rPr lang="en-US" dirty="0"/>
              <a:t>Welcome to SciTech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60" y="1691658"/>
            <a:ext cx="10972679" cy="44760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APA-50 Special Session: Rotor-in-Hover (Wednesday, January 14)</a:t>
            </a:r>
          </a:p>
          <a:p>
            <a:pPr>
              <a:tabLst>
                <a:tab pos="10801350" algn="r"/>
              </a:tabLst>
            </a:pPr>
            <a:endParaRPr lang="en-US" sz="2000" dirty="0"/>
          </a:p>
          <a:p>
            <a:pPr>
              <a:tabLst>
                <a:tab pos="10801350" algn="r"/>
              </a:tabLst>
            </a:pPr>
            <a:r>
              <a:rPr lang="en-US" sz="2000" dirty="0"/>
              <a:t>An Investigation of CFD Predictions for Rotor Hover Performance Near Stall Conditions	Min</a:t>
            </a:r>
          </a:p>
          <a:p>
            <a:pPr>
              <a:tabLst>
                <a:tab pos="10801350" algn="r"/>
              </a:tabLst>
            </a:pPr>
            <a:endParaRPr lang="en-US" sz="2000" dirty="0"/>
          </a:p>
          <a:p>
            <a:pPr>
              <a:tabLst>
                <a:tab pos="10801350" algn="r"/>
              </a:tabLst>
            </a:pPr>
            <a:r>
              <a:rPr lang="en-US" sz="2000" dirty="0"/>
              <a:t>Enhanced Engineering Workflows in the HPCMP CREATE Ecosystem Demonstrated 	Abras</a:t>
            </a:r>
            <a:br>
              <a:rPr lang="en-US" sz="2000" dirty="0"/>
            </a:br>
            <a:r>
              <a:rPr lang="en-US" sz="2000" dirty="0"/>
              <a:t>on the SUI Endurance UAV</a:t>
            </a:r>
          </a:p>
          <a:p>
            <a:pPr>
              <a:tabLst>
                <a:tab pos="10801350" algn="r"/>
              </a:tabLst>
            </a:pPr>
            <a:endParaRPr lang="en-US" sz="2000" dirty="0"/>
          </a:p>
          <a:p>
            <a:pPr>
              <a:tabLst>
                <a:tab pos="10801350" algn="r"/>
              </a:tabLst>
            </a:pPr>
            <a:r>
              <a:rPr lang="en-US" sz="2000" dirty="0"/>
              <a:t>Numerical Simulations of an Installed Rotor in Prescribed and Free Flight Maneuvers	Sheng</a:t>
            </a:r>
          </a:p>
          <a:p>
            <a:pPr>
              <a:tabLst>
                <a:tab pos="10801350" algn="r"/>
              </a:tabLst>
            </a:pPr>
            <a:endParaRPr lang="en-US" sz="2000" dirty="0"/>
          </a:p>
          <a:p>
            <a:pPr>
              <a:tabLst>
                <a:tab pos="10801350" algn="r"/>
              </a:tabLst>
            </a:pPr>
            <a:r>
              <a:rPr lang="en-US" sz="2000" dirty="0"/>
              <a:t>Analysis of HVAB Rotor Hover Performance with Uncertainty in CFD Meshing Strategies	Schaefer</a:t>
            </a:r>
          </a:p>
          <a:p>
            <a:pPr>
              <a:tabLst>
                <a:tab pos="10801350" algn="r"/>
              </a:tabLst>
            </a:pPr>
            <a:endParaRPr lang="en-US" sz="2000" dirty="0"/>
          </a:p>
          <a:p>
            <a:pPr>
              <a:tabLst>
                <a:tab pos="10801350" algn="r"/>
              </a:tabLst>
            </a:pPr>
            <a:r>
              <a:rPr lang="en-US" sz="2000" dirty="0"/>
              <a:t>Preliminary Application of Inverse Design to the HVAB Rotor Tip	Nelson</a:t>
            </a:r>
          </a:p>
        </p:txBody>
      </p:sp>
    </p:spTree>
    <p:extLst>
      <p:ext uri="{BB962C8B-B14F-4D97-AF65-F5344CB8AC3E}">
        <p14:creationId xmlns:p14="http://schemas.microsoft.com/office/powerpoint/2010/main" val="1849311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Join our mailing list</a:t>
            </a:r>
          </a:p>
          <a:p>
            <a:endParaRPr lang="en-US" dirty="0"/>
          </a:p>
          <a:p>
            <a:r>
              <a:rPr lang="en-US" dirty="0"/>
              <a:t>Sit back and enjoy the special Rotorcraft in Hover Sessions</a:t>
            </a:r>
          </a:p>
          <a:p>
            <a:endParaRPr lang="en-US" dirty="0"/>
          </a:p>
          <a:p>
            <a:r>
              <a:rPr lang="en-US" dirty="0"/>
              <a:t>Write a paper, share your results, see you at </a:t>
            </a:r>
            <a:r>
              <a:rPr lang="en-US" dirty="0" err="1"/>
              <a:t>Scitech</a:t>
            </a:r>
            <a:r>
              <a:rPr lang="en-US" dirty="0"/>
              <a:t> 2027</a:t>
            </a:r>
          </a:p>
        </p:txBody>
      </p:sp>
    </p:spTree>
    <p:extLst>
      <p:ext uri="{BB962C8B-B14F-4D97-AF65-F5344CB8AC3E}">
        <p14:creationId xmlns:p14="http://schemas.microsoft.com/office/powerpoint/2010/main" val="2987459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67" y="2240293"/>
            <a:ext cx="8595266" cy="309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29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339395-00DC-BC82-D22E-BC1C5BACDEFA}"/>
              </a:ext>
            </a:extLst>
          </p:cNvPr>
          <p:cNvSpPr/>
          <p:nvPr/>
        </p:nvSpPr>
        <p:spPr>
          <a:xfrm rot="20494501">
            <a:off x="764702" y="2358382"/>
            <a:ext cx="3211457" cy="923330"/>
          </a:xfrm>
          <a:prstGeom prst="rect">
            <a:avLst/>
          </a:prstGeom>
          <a:noFill/>
          <a:effectLst>
            <a:softEdge rad="685800"/>
          </a:effectLst>
        </p:spPr>
        <p:txBody>
          <a:bodyPr wrap="none" lIns="91440" tIns="45720" rIns="91440" bIns="45720">
            <a:spAutoFit/>
            <a:flatTx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35820-25D6-D5EB-4B5B-502C53E19C1B}"/>
              </a:ext>
            </a:extLst>
          </p:cNvPr>
          <p:cNvSpPr txBox="1"/>
          <p:nvPr/>
        </p:nvSpPr>
        <p:spPr>
          <a:xfrm>
            <a:off x="4175781" y="3246122"/>
            <a:ext cx="66423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APATC Rotorcraft Simulation Discussion Group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Monday Jan 12, 6:45-8:00 PM, </a:t>
            </a:r>
            <a:r>
              <a:rPr lang="en-US" sz="2000" dirty="0" err="1"/>
              <a:t>Bayhill</a:t>
            </a:r>
            <a:r>
              <a:rPr lang="en-US" sz="2000" dirty="0"/>
              <a:t> 28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15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of HPW vision</a:t>
            </a:r>
          </a:p>
          <a:p>
            <a:endParaRPr lang="en-US" dirty="0"/>
          </a:p>
          <a:p>
            <a:r>
              <a:rPr lang="en-US" dirty="0"/>
              <a:t>Introducing Endurance: The eVTOL simulation problem</a:t>
            </a:r>
          </a:p>
          <a:p>
            <a:endParaRPr lang="en-US" dirty="0"/>
          </a:p>
          <a:p>
            <a:r>
              <a:rPr lang="en-US" dirty="0"/>
              <a:t>Discussion topics</a:t>
            </a:r>
          </a:p>
          <a:p>
            <a:pPr lvl="1"/>
            <a:r>
              <a:rPr lang="en-US" dirty="0"/>
              <a:t>Comprehensive repository of hover analysis methods, results, etc.</a:t>
            </a:r>
          </a:p>
          <a:p>
            <a:pPr lvl="1"/>
            <a:r>
              <a:rPr lang="en-US" dirty="0"/>
              <a:t>Cadence for meeting </a:t>
            </a:r>
          </a:p>
          <a:p>
            <a:pPr lvl="1"/>
            <a:endParaRPr lang="en-US" dirty="0"/>
          </a:p>
          <a:p>
            <a:r>
              <a:rPr lang="en-US" dirty="0"/>
              <a:t>Any other business</a:t>
            </a:r>
          </a:p>
        </p:txBody>
      </p:sp>
    </p:spTree>
    <p:extLst>
      <p:ext uri="{BB962C8B-B14F-4D97-AF65-F5344CB8AC3E}">
        <p14:creationId xmlns:p14="http://schemas.microsoft.com/office/powerpoint/2010/main" val="1487430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4EC3-E491-40D0-31BE-EFBFE4E1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0360-4263-45A0-D967-E2206C9A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Steering Committee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4ABC1-4738-DEC7-C576-1A8A75A3345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433780" y="1692275"/>
            <a:ext cx="7324441" cy="4321183"/>
          </a:xfrm>
        </p:spPr>
        <p:txBody>
          <a:bodyPr wrap="none">
            <a:spAutoFit/>
          </a:bodyPr>
          <a:lstStyle/>
          <a:p>
            <a:pPr marL="0" indent="0" algn="ctr">
              <a:buNone/>
            </a:pPr>
            <a:r>
              <a:rPr lang="en-US" sz="1800" b="1" dirty="0"/>
              <a:t>Nathan Hariharan (Chair)</a:t>
            </a:r>
          </a:p>
          <a:p>
            <a:pPr marL="0" indent="0" algn="ctr">
              <a:buNone/>
            </a:pPr>
            <a:r>
              <a:rPr lang="en-US" sz="1400" b="1" dirty="0"/>
              <a:t>HPCMP CREATE: Chief Scientist &amp; Technologist</a:t>
            </a:r>
            <a:endParaRPr lang="en-US" sz="1800" b="1" dirty="0"/>
          </a:p>
          <a:p>
            <a:pPr marL="0" indent="0" algn="ctr">
              <a:buNone/>
            </a:pPr>
            <a:r>
              <a:rPr lang="en-US" sz="1800" b="1" dirty="0"/>
              <a:t>​</a:t>
            </a:r>
          </a:p>
          <a:p>
            <a:pPr marL="0" indent="0" algn="ctr">
              <a:buNone/>
            </a:pPr>
            <a:r>
              <a:rPr lang="en-US" sz="1800" b="1" dirty="0"/>
              <a:t>Jennifer Abras</a:t>
            </a:r>
          </a:p>
          <a:p>
            <a:pPr marL="0" indent="0" algn="ctr">
              <a:buNone/>
            </a:pPr>
            <a:r>
              <a:rPr lang="en-US" sz="1400" b="1" dirty="0"/>
              <a:t>HPCMP CREATE: Helios Development Team</a:t>
            </a:r>
          </a:p>
          <a:p>
            <a:pPr marL="0" indent="0" algn="ctr">
              <a:buNone/>
            </a:pPr>
            <a:r>
              <a:rPr lang="en-US" sz="1800" b="1" dirty="0"/>
              <a:t>​</a:t>
            </a:r>
          </a:p>
          <a:p>
            <a:pPr marL="0" indent="0" algn="ctr">
              <a:buNone/>
            </a:pPr>
            <a:r>
              <a:rPr lang="en-US" sz="1800" b="1" dirty="0"/>
              <a:t>Rohit Jain</a:t>
            </a:r>
          </a:p>
          <a:p>
            <a:pPr marL="0" indent="0" algn="ctr">
              <a:buNone/>
            </a:pPr>
            <a:r>
              <a:rPr lang="en-US" sz="1400" b="1" dirty="0"/>
              <a:t>US Army Combat Capabilities Development Command Aviation &amp; Missile Center: Aerospace Engineer</a:t>
            </a:r>
            <a:endParaRPr lang="en-US" sz="1800" b="1" dirty="0"/>
          </a:p>
          <a:p>
            <a:pPr marL="0" indent="0" algn="ctr">
              <a:buNone/>
            </a:pPr>
            <a:r>
              <a:rPr lang="en-US" sz="1800" b="1" dirty="0"/>
              <a:t> </a:t>
            </a:r>
          </a:p>
          <a:p>
            <a:pPr marL="0" indent="0" algn="ctr">
              <a:buNone/>
            </a:pPr>
            <a:r>
              <a:rPr lang="en-US" sz="1800" b="1" dirty="0"/>
              <a:t>Bob Narducci</a:t>
            </a:r>
          </a:p>
          <a:p>
            <a:pPr marL="0" indent="0" algn="ctr">
              <a:buNone/>
            </a:pPr>
            <a:r>
              <a:rPr lang="en-US" sz="1400" b="1" dirty="0"/>
              <a:t>The Boeing Company: Technical Fellow</a:t>
            </a:r>
            <a:endParaRPr lang="en-US" sz="1800" b="1" dirty="0"/>
          </a:p>
          <a:p>
            <a:pPr marL="0" indent="0" algn="ctr">
              <a:buNone/>
            </a:pPr>
            <a:r>
              <a:rPr lang="en-US" sz="1800" b="1" dirty="0"/>
              <a:t> </a:t>
            </a:r>
          </a:p>
          <a:p>
            <a:pPr marL="0" indent="0" algn="ctr">
              <a:buNone/>
            </a:pPr>
            <a:r>
              <a:rPr lang="en-US" sz="1800" b="1" dirty="0"/>
              <a:t>Brian Wake</a:t>
            </a:r>
          </a:p>
          <a:p>
            <a:pPr marL="0" indent="0" algn="ctr">
              <a:buNone/>
            </a:pPr>
            <a:r>
              <a:rPr lang="en-US" sz="1400" b="1" dirty="0"/>
              <a:t>Sikorsky Aircraft - A Lockheed-Martin Company: LM Fellow</a:t>
            </a:r>
          </a:p>
        </p:txBody>
      </p:sp>
    </p:spTree>
    <p:extLst>
      <p:ext uri="{BB962C8B-B14F-4D97-AF65-F5344CB8AC3E}">
        <p14:creationId xmlns:p14="http://schemas.microsoft.com/office/powerpoint/2010/main" val="1882699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2D29C-2577-B6FD-7579-DA12D52E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0819-9836-2D78-AF19-93513566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HPW Vision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0CC133-AE65-C3C0-971C-46411E0F46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122" y="1547026"/>
            <a:ext cx="5934456" cy="4876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681B06E-AA54-9186-C934-64B68437F38D}"/>
              </a:ext>
            </a:extLst>
          </p:cNvPr>
          <p:cNvSpPr txBox="1"/>
          <p:nvPr/>
        </p:nvSpPr>
        <p:spPr>
          <a:xfrm>
            <a:off x="243904" y="2423171"/>
            <a:ext cx="5394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n-lt"/>
              </a:rPr>
              <a:t>Our vision is to inspire collaboration among industry, governments, and academia for the development of</a:t>
            </a:r>
          </a:p>
          <a:p>
            <a:r>
              <a:rPr lang="en-US" sz="2800" dirty="0">
                <a:latin typeface="+mn-lt"/>
              </a:rPr>
              <a:t>computational methods to predict all aspects of hovering flight efficiently, practically, and accurately</a:t>
            </a:r>
          </a:p>
        </p:txBody>
      </p:sp>
    </p:spTree>
    <p:extLst>
      <p:ext uri="{BB962C8B-B14F-4D97-AF65-F5344CB8AC3E}">
        <p14:creationId xmlns:p14="http://schemas.microsoft.com/office/powerpoint/2010/main" val="2551377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DEB0-27E0-E74E-DA97-879A132E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67B3-05C9-22A2-17D7-FE4A7ED0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B5A3B-50E7-B332-AFEB-C94E727D4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0" y="1691658"/>
            <a:ext cx="4663389" cy="447605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HPW committee identified 5 challenge simulations to benchmark and advance hover prediction processes</a:t>
            </a:r>
          </a:p>
          <a:p>
            <a:endParaRPr lang="en-US" dirty="0"/>
          </a:p>
          <a:p>
            <a:r>
              <a:rPr lang="en-US" dirty="0"/>
              <a:t>Each simulation offers a hover focus area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C8EE2-0685-CF72-86CD-F7D32EFB42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74" r="1917" b="15948"/>
          <a:stretch>
            <a:fillRect/>
          </a:stretch>
        </p:blipFill>
        <p:spPr>
          <a:xfrm>
            <a:off x="5547366" y="2514610"/>
            <a:ext cx="5943600" cy="37188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4028AA-3D34-3B7D-9965-CCB6FF7A7A84}"/>
              </a:ext>
            </a:extLst>
          </p:cNvPr>
          <p:cNvSpPr txBox="1"/>
          <p:nvPr/>
        </p:nvSpPr>
        <p:spPr>
          <a:xfrm>
            <a:off x="902495" y="1778628"/>
            <a:ext cx="10387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914400" algn="ctr"/>
                <a:tab pos="2743200" algn="ctr"/>
                <a:tab pos="4572000" algn="ctr"/>
                <a:tab pos="7199313" algn="ctr"/>
                <a:tab pos="9485313" algn="ctr"/>
              </a:tabLst>
            </a:pPr>
            <a:r>
              <a:rPr lang="en-US" dirty="0"/>
              <a:t>	</a:t>
            </a:r>
            <a:r>
              <a:rPr lang="en-US" u="sng" dirty="0"/>
              <a:t>S-76 Rotor</a:t>
            </a:r>
            <a:r>
              <a:rPr lang="en-US" dirty="0"/>
              <a:t>	</a:t>
            </a:r>
            <a:r>
              <a:rPr lang="en-US" u="sng" dirty="0"/>
              <a:t>PSP Rotor</a:t>
            </a:r>
            <a:r>
              <a:rPr lang="en-US" dirty="0"/>
              <a:t>	</a:t>
            </a:r>
            <a:r>
              <a:rPr lang="en-US" u="sng" dirty="0"/>
              <a:t>HVAB Rotor</a:t>
            </a:r>
            <a:r>
              <a:rPr lang="en-US" dirty="0"/>
              <a:t>	</a:t>
            </a:r>
            <a:r>
              <a:rPr lang="en-US" u="sng" dirty="0"/>
              <a:t>Hover Focus Problem</a:t>
            </a:r>
            <a:r>
              <a:rPr lang="en-US" dirty="0"/>
              <a:t>	</a:t>
            </a:r>
            <a:r>
              <a:rPr lang="en-US" u="sng" dirty="0"/>
              <a:t>eVTOL</a:t>
            </a:r>
          </a:p>
        </p:txBody>
      </p:sp>
    </p:spTree>
    <p:extLst>
      <p:ext uri="{BB962C8B-B14F-4D97-AF65-F5344CB8AC3E}">
        <p14:creationId xmlns:p14="http://schemas.microsoft.com/office/powerpoint/2010/main" val="2709097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F1EBB-E8EB-0394-D557-E83668FB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AD22-1819-2793-96FA-ECE08EFB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61" y="838200"/>
            <a:ext cx="10972678" cy="685800"/>
          </a:xfrm>
        </p:spPr>
        <p:txBody>
          <a:bodyPr/>
          <a:lstStyle/>
          <a:p>
            <a:r>
              <a:rPr lang="en-US" dirty="0"/>
              <a:t>Collaboration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3FBE3-A419-14D2-0491-7CC44613E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0" y="1691658"/>
            <a:ext cx="10972679" cy="447605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latest hover problem</a:t>
            </a:r>
            <a:br>
              <a:rPr lang="en-US" dirty="0"/>
            </a:br>
            <a:r>
              <a:rPr lang="en-US" dirty="0"/>
              <a:t>involves the SUI Endurance</a:t>
            </a:r>
          </a:p>
          <a:p>
            <a:endParaRPr lang="en-US" dirty="0"/>
          </a:p>
          <a:p>
            <a:r>
              <a:rPr lang="en-US" dirty="0"/>
              <a:t>Recommended simulations include</a:t>
            </a:r>
            <a:br>
              <a:rPr lang="en-US" dirty="0"/>
            </a:br>
            <a:r>
              <a:rPr lang="en-US" dirty="0"/>
              <a:t>isolated fuselage, isolated rotor, &amp;</a:t>
            </a:r>
            <a:br>
              <a:rPr lang="en-US" dirty="0"/>
            </a:br>
            <a:r>
              <a:rPr lang="en-US" dirty="0"/>
              <a:t>full-aircraft from hover </a:t>
            </a:r>
            <a:r>
              <a:rPr lang="en-US" dirty="0" err="1"/>
              <a:t>upto</a:t>
            </a:r>
            <a:r>
              <a:rPr lang="en-US" dirty="0"/>
              <a:t> 20 m/s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EE4A7-D87A-DDC4-80B7-65A554BED7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926" y="2745168"/>
            <a:ext cx="7696074" cy="35184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3BDF24-9270-3AF6-EFF8-4FFC82E6CF67}"/>
              </a:ext>
            </a:extLst>
          </p:cNvPr>
          <p:cNvSpPr txBox="1"/>
          <p:nvPr/>
        </p:nvSpPr>
        <p:spPr>
          <a:xfrm>
            <a:off x="902495" y="1778628"/>
            <a:ext cx="10387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914400" algn="ctr"/>
                <a:tab pos="2743200" algn="ctr"/>
                <a:tab pos="4572000" algn="ctr"/>
                <a:tab pos="7199313" algn="ctr"/>
                <a:tab pos="9485313" algn="ctr"/>
              </a:tabLst>
            </a:pPr>
            <a:r>
              <a:rPr lang="en-US" dirty="0"/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S-76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PSP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HVAB Rotor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Hover Focus Problem</a:t>
            </a:r>
            <a:r>
              <a:rPr lang="en-US" dirty="0"/>
              <a:t>	</a:t>
            </a:r>
            <a:r>
              <a:rPr lang="en-US" u="sng" dirty="0"/>
              <a:t>eVTOL</a:t>
            </a:r>
          </a:p>
        </p:txBody>
      </p:sp>
    </p:spTree>
    <p:extLst>
      <p:ext uri="{BB962C8B-B14F-4D97-AF65-F5344CB8AC3E}">
        <p14:creationId xmlns:p14="http://schemas.microsoft.com/office/powerpoint/2010/main" val="926350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CBC3-8ABB-D5DF-F173-52874CAB1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Black And White Book Clip Art, Download Free Black And White Book Clip Art png images, Free ...">
            <a:extLst>
              <a:ext uri="{FF2B5EF4-FFF2-40B4-BE49-F238E27FC236}">
                <a16:creationId xmlns:a16="http://schemas.microsoft.com/office/drawing/2014/main" id="{B5E3B7B6-69AE-3FD3-E535-9C470F1AF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56452" y="2331732"/>
            <a:ext cx="6791644" cy="357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76432B5-333F-3729-85BB-81E1267DD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 for Discussion...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B38F48-DBA3-E9A8-7632-78AE30ADF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61" y="1691658"/>
            <a:ext cx="6400730" cy="4476059"/>
          </a:xfrm>
        </p:spPr>
        <p:txBody>
          <a:bodyPr/>
          <a:lstStyle/>
          <a:p>
            <a:r>
              <a:rPr lang="en-US" dirty="0"/>
              <a:t>Is it time for a comprehensive record of</a:t>
            </a:r>
            <a:br>
              <a:rPr lang="en-US" dirty="0"/>
            </a:br>
            <a:r>
              <a:rPr lang="en-US" dirty="0"/>
              <a:t>hover prediction achievements?</a:t>
            </a:r>
          </a:p>
          <a:p>
            <a:pPr lvl="2"/>
            <a:endParaRPr lang="en-US" sz="1800" dirty="0"/>
          </a:p>
          <a:p>
            <a:r>
              <a:rPr lang="en-US" dirty="0"/>
              <a:t>Possible topics include: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sz="1800" dirty="0"/>
          </a:p>
          <a:p>
            <a:r>
              <a:rPr lang="en-US" dirty="0"/>
              <a:t>Are there gaps?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737E7-735B-433F-0B3D-35EC276FC150}"/>
              </a:ext>
            </a:extLst>
          </p:cNvPr>
          <p:cNvSpPr txBox="1"/>
          <p:nvPr/>
        </p:nvSpPr>
        <p:spPr>
          <a:xfrm>
            <a:off x="1158294" y="3520439"/>
            <a:ext cx="39318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Selecting an analysis approach &amp; what to expect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Modeling wakes &amp; turbulence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Quantifying uncertainty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Application to design &amp;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040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2C7CC-8ED2-93F6-3CC8-35DA86E81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C9CD-BA5E-2D85-E359-75AF85F9F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for Discussion: HPW Cadence &amp; Communication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840CE8-E9D5-524F-A511-441E8DACF11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010390" y="1691659"/>
            <a:ext cx="4937706" cy="448056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The HPW meets twice a year</a:t>
            </a:r>
          </a:p>
          <a:p>
            <a:pPr lvl="1"/>
            <a:r>
              <a:rPr lang="en-US" dirty="0"/>
              <a:t>Winter: SciTech</a:t>
            </a:r>
          </a:p>
          <a:p>
            <a:pPr lvl="1"/>
            <a:r>
              <a:rPr lang="en-US" dirty="0"/>
              <a:t>Summer: Aviation</a:t>
            </a:r>
          </a:p>
          <a:p>
            <a:pPr lvl="1"/>
            <a:endParaRPr lang="en-US" dirty="0"/>
          </a:p>
          <a:p>
            <a:r>
              <a:rPr lang="en-US" dirty="0"/>
              <a:t>www.aiaa-hpw.org</a:t>
            </a:r>
          </a:p>
          <a:p>
            <a:endParaRPr lang="en-US" dirty="0"/>
          </a:p>
          <a:p>
            <a:r>
              <a:rPr lang="en-US" dirty="0"/>
              <a:t>Email correspondence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A3421E-8711-407B-E17A-A4770496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15" r="1961" b="-3275"/>
          <a:stretch>
            <a:fillRect/>
          </a:stretch>
        </p:blipFill>
        <p:spPr>
          <a:xfrm>
            <a:off x="426782" y="2148854"/>
            <a:ext cx="5943600" cy="3721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8723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0BC3-89A7-C338-C669-6DFF0C2A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F29579-6148-9EFD-C4B3-2321FA9772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67" y="2240293"/>
            <a:ext cx="8595266" cy="309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977773"/>
      </p:ext>
    </p:extLst>
  </p:cSld>
  <p:clrMapOvr>
    <a:masterClrMapping/>
  </p:clrMapOvr>
</p:sld>
</file>

<file path=ppt/theme/theme1.xml><?xml version="1.0" encoding="utf-8"?>
<a:theme xmlns:a="http://schemas.openxmlformats.org/drawingml/2006/main" name="AIAA_Template2007-08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 Narrow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 Aviation Conference Meeting</Template>
  <TotalTime>13476</TotalTime>
  <Words>1161</Words>
  <Application>Microsoft Office PowerPoint</Application>
  <PresentationFormat>Widescreen</PresentationFormat>
  <Paragraphs>239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Narrow</vt:lpstr>
      <vt:lpstr>Times</vt:lpstr>
      <vt:lpstr>Wingdings</vt:lpstr>
      <vt:lpstr>AIAA_Template2007-08</vt:lpstr>
      <vt:lpstr>AIAA Hover Prediction Workshop:  Overview and Future Direction</vt:lpstr>
      <vt:lpstr>The Steering Committee</vt:lpstr>
      <vt:lpstr>PowerPoint Presentation</vt:lpstr>
      <vt:lpstr>HPW Vision</vt:lpstr>
      <vt:lpstr>HPW Vision</vt:lpstr>
      <vt:lpstr>HPW Vision</vt:lpstr>
      <vt:lpstr>The Grand Challenge</vt:lpstr>
      <vt:lpstr>Collaboration Problems</vt:lpstr>
      <vt:lpstr>Collaboration Problems</vt:lpstr>
      <vt:lpstr>Collaboration Problems</vt:lpstr>
      <vt:lpstr>Collaboration Problems</vt:lpstr>
      <vt:lpstr>Collaboration Problems</vt:lpstr>
      <vt:lpstr>Collaboration Problems</vt:lpstr>
      <vt:lpstr>Crowning Achievements</vt:lpstr>
      <vt:lpstr>Progress to the Grand Challenge</vt:lpstr>
      <vt:lpstr>Up for Discussion...</vt:lpstr>
      <vt:lpstr>Also for Discussion: HPW Cadence &amp; Communication</vt:lpstr>
      <vt:lpstr>Welcome to SciTech 2026</vt:lpstr>
      <vt:lpstr>Actions</vt:lpstr>
      <vt:lpstr>PowerPoint Presentation</vt:lpstr>
      <vt:lpstr>PowerPoint Presentation</vt:lpstr>
      <vt:lpstr>Agenda</vt:lpstr>
      <vt:lpstr>The Steering Committee</vt:lpstr>
      <vt:lpstr>HPW Vision</vt:lpstr>
      <vt:lpstr>Collaboration Problems</vt:lpstr>
      <vt:lpstr>Collaboration Problems</vt:lpstr>
      <vt:lpstr>Up for Discussion...</vt:lpstr>
      <vt:lpstr>Also for Discussion: HPW Cadence &amp; Communication</vt:lpstr>
      <vt:lpstr>PowerPoint Presentation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Narducci (US), Robert P</dc:creator>
  <cp:lastModifiedBy>Narducci (US), Robert (Boeing)</cp:lastModifiedBy>
  <cp:revision>129</cp:revision>
  <cp:lastPrinted>2021-01-13T11:08:12Z</cp:lastPrinted>
  <dcterms:created xsi:type="dcterms:W3CDTF">2020-06-12T18:36:24Z</dcterms:created>
  <dcterms:modified xsi:type="dcterms:W3CDTF">2026-01-08T20:46:48Z</dcterms:modified>
</cp:coreProperties>
</file>